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56" d="100"/>
          <a:sy n="56" d="100"/>
        </p:scale>
        <p:origin x="1000"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03504" y="770467"/>
            <a:ext cx="10782300" cy="3352800"/>
          </a:xfrm>
        </p:spPr>
        <p:txBody>
          <a:bodyPr anchor="b">
            <a:noAutofit/>
          </a:bodyPr>
          <a:lstStyle>
            <a:lvl1pPr algn="l">
              <a:lnSpc>
                <a:spcPct val="80000"/>
              </a:lnSpc>
              <a:defRPr sz="8800" spc="-120" baseline="0">
                <a:solidFill>
                  <a:schemeClr val="tx1"/>
                </a:solidFill>
              </a:defRPr>
            </a:lvl1pPr>
          </a:lstStyle>
          <a:p>
            <a:r>
              <a:rPr lang="en-US"/>
              <a:t>Click to edit Master title style</a:t>
            </a:r>
            <a:endParaRPr lang="en-US" dirty="0"/>
          </a:p>
        </p:txBody>
      </p:sp>
      <p:sp>
        <p:nvSpPr>
          <p:cNvPr id="3" name="Subtitle 2"/>
          <p:cNvSpPr>
            <a:spLocks noGrp="1"/>
          </p:cNvSpPr>
          <p:nvPr>
            <p:ph type="subTitle" idx="1"/>
          </p:nvPr>
        </p:nvSpPr>
        <p:spPr>
          <a:xfrm>
            <a:off x="667512" y="4206876"/>
            <a:ext cx="9228201" cy="1645920"/>
          </a:xfrm>
        </p:spPr>
        <p:txBody>
          <a:bodyPr>
            <a:normAutofit/>
          </a:bodyPr>
          <a:lstStyle>
            <a:lvl1pPr marL="0" indent="0" algn="l">
              <a:buNone/>
              <a:defRPr sz="3200">
                <a:solidFill>
                  <a:schemeClr val="tx1"/>
                </a:solidFill>
                <a:latin typeface="+mj-lt"/>
              </a:defRPr>
            </a:lvl1pPr>
            <a:lvl2pPr marL="457200" indent="0" algn="ctr">
              <a:buNone/>
              <a:defRPr sz="28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p>
            <a:fld id="{18EA2753-81DC-4479-9D7E-0EE59B9872B0}" type="datetimeFigureOut">
              <a:rPr lang="en-IN" smtClean="0"/>
              <a:t>13-02-2026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597FD7BA-82C9-429F-9697-8A487987D968}" type="slidenum">
              <a:rPr lang="en-IN" smtClean="0"/>
              <a:t>‹#›</a:t>
            </a:fld>
            <a:endParaRPr lang="en-IN"/>
          </a:p>
        </p:txBody>
      </p:sp>
    </p:spTree>
    <p:extLst>
      <p:ext uri="{BB962C8B-B14F-4D97-AF65-F5344CB8AC3E}">
        <p14:creationId xmlns:p14="http://schemas.microsoft.com/office/powerpoint/2010/main" val="39506808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8EA2753-81DC-4479-9D7E-0EE59B9872B0}" type="datetimeFigureOut">
              <a:rPr lang="en-IN" smtClean="0"/>
              <a:t>13-02-2026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97FD7BA-82C9-429F-9697-8A487987D968}" type="slidenum">
              <a:rPr lang="en-IN" smtClean="0"/>
              <a:t>‹#›</a:t>
            </a:fld>
            <a:endParaRPr lang="en-IN"/>
          </a:p>
        </p:txBody>
      </p:sp>
    </p:spTree>
    <p:extLst>
      <p:ext uri="{BB962C8B-B14F-4D97-AF65-F5344CB8AC3E}">
        <p14:creationId xmlns:p14="http://schemas.microsoft.com/office/powerpoint/2010/main" val="4792543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03504" y="767419"/>
            <a:ext cx="10780776" cy="3355848"/>
          </a:xfrm>
        </p:spPr>
        <p:txBody>
          <a:bodyPr anchor="b">
            <a:normAutofit/>
          </a:bodyPr>
          <a:lstStyle>
            <a:lvl1pPr>
              <a:lnSpc>
                <a:spcPct val="80000"/>
              </a:lnSpc>
              <a:defRPr sz="8800" b="0" baseline="0">
                <a:solidFill>
                  <a:schemeClr val="tx1"/>
                </a:solidFill>
              </a:defRPr>
            </a:lvl1pPr>
          </a:lstStyle>
          <a:p>
            <a:r>
              <a:rPr lang="en-US"/>
              <a:t>Click to edit Master title style</a:t>
            </a:r>
            <a:endParaRPr lang="en-US" dirty="0"/>
          </a:p>
        </p:txBody>
      </p:sp>
      <p:sp>
        <p:nvSpPr>
          <p:cNvPr id="3" name="Text Placeholder 2"/>
          <p:cNvSpPr>
            <a:spLocks noGrp="1"/>
          </p:cNvSpPr>
          <p:nvPr>
            <p:ph type="body" idx="1"/>
          </p:nvPr>
        </p:nvSpPr>
        <p:spPr>
          <a:xfrm>
            <a:off x="667512" y="4204209"/>
            <a:ext cx="9226296" cy="1645920"/>
          </a:xfrm>
        </p:spPr>
        <p:txBody>
          <a:bodyPr anchor="t">
            <a:normAutofit/>
          </a:bodyPr>
          <a:lstStyle>
            <a:lvl1pPr marL="0" indent="0">
              <a:buNone/>
              <a:defRPr sz="3200">
                <a:solidFill>
                  <a:schemeClr val="tx1"/>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8EA2753-81DC-4479-9D7E-0EE59B9872B0}" type="datetimeFigureOut">
              <a:rPr lang="en-IN" smtClean="0"/>
              <a:t>13-02-2026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97FD7BA-82C9-429F-9697-8A487987D968}" type="slidenum">
              <a:rPr lang="en-IN" smtClean="0"/>
              <a:t>‹#›</a:t>
            </a:fld>
            <a:endParaRPr lang="en-IN"/>
          </a:p>
        </p:txBody>
      </p:sp>
    </p:spTree>
    <p:extLst>
      <p:ext uri="{BB962C8B-B14F-4D97-AF65-F5344CB8AC3E}">
        <p14:creationId xmlns:p14="http://schemas.microsoft.com/office/powerpoint/2010/main" val="24521961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6656" y="1998134"/>
            <a:ext cx="4663440" cy="376732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011330" y="1998134"/>
            <a:ext cx="4663440" cy="376732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8EA2753-81DC-4479-9D7E-0EE59B9872B0}" type="datetimeFigureOut">
              <a:rPr lang="en-IN" smtClean="0"/>
              <a:t>13-02-2026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97FD7BA-82C9-429F-9697-8A487987D968}" type="slidenum">
              <a:rPr lang="en-IN" smtClean="0"/>
              <a:t>‹#›</a:t>
            </a:fld>
            <a:endParaRPr lang="en-IN"/>
          </a:p>
        </p:txBody>
      </p:sp>
    </p:spTree>
    <p:extLst>
      <p:ext uri="{BB962C8B-B14F-4D97-AF65-F5344CB8AC3E}">
        <p14:creationId xmlns:p14="http://schemas.microsoft.com/office/powerpoint/2010/main" val="33939958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676656" y="2040467"/>
            <a:ext cx="4663440" cy="723400"/>
          </a:xfrm>
        </p:spPr>
        <p:txBody>
          <a:bodyPr anchor="ctr">
            <a:normAutofit/>
          </a:bodyPr>
          <a:lstStyle>
            <a:lvl1pPr marL="0" indent="0">
              <a:buNone/>
              <a:defRPr sz="2200" b="0" cap="all" baseline="0">
                <a:solidFill>
                  <a:schemeClr val="accent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6656" y="2753084"/>
            <a:ext cx="4663440" cy="320040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07608" y="2038435"/>
            <a:ext cx="4663440" cy="722376"/>
          </a:xfrm>
        </p:spPr>
        <p:txBody>
          <a:bodyPr anchor="ctr">
            <a:normAutofit/>
          </a:bodyPr>
          <a:lstStyle>
            <a:lvl1pPr marL="0" indent="0">
              <a:buNone/>
              <a:defRPr sz="2200" b="0" cap="all" baseline="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007608" y="2750990"/>
            <a:ext cx="4663440" cy="320040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8EA2753-81DC-4479-9D7E-0EE59B9872B0}" type="datetimeFigureOut">
              <a:rPr lang="en-IN" smtClean="0"/>
              <a:t>13-02-2026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597FD7BA-82C9-429F-9697-8A487987D968}" type="slidenum">
              <a:rPr lang="en-IN" smtClean="0"/>
              <a:t>‹#›</a:t>
            </a:fld>
            <a:endParaRPr lang="en-IN"/>
          </a:p>
        </p:txBody>
      </p:sp>
    </p:spTree>
    <p:extLst>
      <p:ext uri="{BB962C8B-B14F-4D97-AF65-F5344CB8AC3E}">
        <p14:creationId xmlns:p14="http://schemas.microsoft.com/office/powerpoint/2010/main" val="37726244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8EA2753-81DC-4479-9D7E-0EE59B9872B0}" type="datetimeFigureOut">
              <a:rPr lang="en-IN" smtClean="0"/>
              <a:t>13-02-2026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597FD7BA-82C9-429F-9697-8A487987D968}" type="slidenum">
              <a:rPr lang="en-IN" smtClean="0"/>
              <a:t>‹#›</a:t>
            </a:fld>
            <a:endParaRPr lang="en-IN"/>
          </a:p>
        </p:txBody>
      </p:sp>
    </p:spTree>
    <p:extLst>
      <p:ext uri="{BB962C8B-B14F-4D97-AF65-F5344CB8AC3E}">
        <p14:creationId xmlns:p14="http://schemas.microsoft.com/office/powerpoint/2010/main" val="21277813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8EA2753-81DC-4479-9D7E-0EE59B9872B0}" type="datetimeFigureOut">
              <a:rPr lang="en-IN" smtClean="0"/>
              <a:t>13-02-2026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597FD7BA-82C9-429F-9697-8A487987D968}" type="slidenum">
              <a:rPr lang="en-IN" smtClean="0"/>
              <a:t>‹#›</a:t>
            </a:fld>
            <a:endParaRPr lang="en-IN"/>
          </a:p>
        </p:txBody>
      </p:sp>
    </p:spTree>
    <p:extLst>
      <p:ext uri="{BB962C8B-B14F-4D97-AF65-F5344CB8AC3E}">
        <p14:creationId xmlns:p14="http://schemas.microsoft.com/office/powerpoint/2010/main" val="15590123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Rectangle 1"/>
          <p:cNvSpPr/>
          <p:nvPr/>
        </p:nvSpPr>
        <p:spPr>
          <a:xfrm>
            <a:off x="7620000" y="0"/>
            <a:ext cx="457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sp>
      <p:sp>
        <p:nvSpPr>
          <p:cNvPr id="9" name="Title 8"/>
          <p:cNvSpPr>
            <a:spLocks noGrp="1"/>
          </p:cNvSpPr>
          <p:nvPr>
            <p:ph type="title"/>
          </p:nvPr>
        </p:nvSpPr>
        <p:spPr>
          <a:xfrm>
            <a:off x="8261404" y="542282"/>
            <a:ext cx="3383280" cy="1920240"/>
          </a:xfrm>
        </p:spPr>
        <p:txBody>
          <a:bodyPr anchor="b">
            <a:noAutofit/>
          </a:bodyPr>
          <a:lstStyle>
            <a:lvl1pPr>
              <a:lnSpc>
                <a:spcPct val="85000"/>
              </a:lnSpc>
              <a:defRPr sz="400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762000" y="762000"/>
            <a:ext cx="6096000" cy="457200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275982" y="2511813"/>
            <a:ext cx="3398520" cy="3126987"/>
          </a:xfrm>
        </p:spPr>
        <p:txBody>
          <a:bodyPr>
            <a:normAutofit/>
          </a:bodyPr>
          <a:lstStyle>
            <a:lvl1pPr marL="0" marR="0" indent="0" algn="l" defTabSz="914400" rtl="0" eaLnBrk="1" fontAlgn="auto" latinLnBrk="0" hangingPunct="1">
              <a:lnSpc>
                <a:spcPct val="100000"/>
              </a:lnSpc>
              <a:spcBef>
                <a:spcPts val="1200"/>
              </a:spcBef>
              <a:spcAft>
                <a:spcPts val="0"/>
              </a:spcAft>
              <a:buClrTx/>
              <a:buSzTx/>
              <a:buFontTx/>
              <a:buNone/>
              <a:tabLst/>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marR="0" lvl="0" indent="0" algn="l" defTabSz="914400" rtl="0" eaLnBrk="1" fontAlgn="auto" latinLnBrk="0" hangingPunct="1">
              <a:lnSpc>
                <a:spcPct val="100000"/>
              </a:lnSpc>
              <a:spcBef>
                <a:spcPts val="1400"/>
              </a:spcBef>
              <a:spcAft>
                <a:spcPts val="0"/>
              </a:spcAft>
              <a:buClrTx/>
              <a:buSzTx/>
              <a:buFontTx/>
              <a:buNone/>
              <a:tabLst/>
              <a:defRPr/>
            </a:pPr>
            <a:r>
              <a:rPr lang="en-US"/>
              <a:t>Click to edit Master text styles</a:t>
            </a:r>
          </a:p>
        </p:txBody>
      </p:sp>
      <p:sp>
        <p:nvSpPr>
          <p:cNvPr id="5" name="Date Placeholder 4"/>
          <p:cNvSpPr>
            <a:spLocks noGrp="1"/>
          </p:cNvSpPr>
          <p:nvPr>
            <p:ph type="dt" sz="half" idx="10"/>
          </p:nvPr>
        </p:nvSpPr>
        <p:spPr/>
        <p:txBody>
          <a:bodyPr/>
          <a:lstStyle/>
          <a:p>
            <a:fld id="{18EA2753-81DC-4479-9D7E-0EE59B9872B0}" type="datetimeFigureOut">
              <a:rPr lang="en-IN" smtClean="0"/>
              <a:t>13-02-2026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lvl1pPr>
              <a:defRPr>
                <a:solidFill>
                  <a:srgbClr val="FFFFFF">
                    <a:alpha val="20000"/>
                  </a:srgbClr>
                </a:solidFill>
              </a:defRPr>
            </a:lvl1pPr>
          </a:lstStyle>
          <a:p>
            <a:fld id="{597FD7BA-82C9-429F-9697-8A487987D968}" type="slidenum">
              <a:rPr lang="en-IN" smtClean="0"/>
              <a:t>‹#›</a:t>
            </a:fld>
            <a:endParaRPr lang="en-IN"/>
          </a:p>
        </p:txBody>
      </p:sp>
    </p:spTree>
    <p:extLst>
      <p:ext uri="{BB962C8B-B14F-4D97-AF65-F5344CB8AC3E}">
        <p14:creationId xmlns:p14="http://schemas.microsoft.com/office/powerpoint/2010/main" val="39140586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49224" y="5418667"/>
            <a:ext cx="10780776" cy="613283"/>
          </a:xfrm>
        </p:spPr>
        <p:txBody>
          <a:bodyPr anchor="b">
            <a:normAutofit/>
          </a:bodyPr>
          <a:lstStyle>
            <a:lvl1pPr>
              <a:defRPr sz="3200" b="0">
                <a:solidFill>
                  <a:schemeClr val="tx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12192000" cy="5330952"/>
          </a:xfrm>
          <a:solidFill>
            <a:schemeClr val="accent1">
              <a:lumMod val="20000"/>
              <a:lumOff val="80000"/>
            </a:schemeClr>
          </a:solidFill>
        </p:spPr>
        <p:txBody>
          <a:bodyPr anchor="t"/>
          <a:lstStyle>
            <a:lvl1pPr marL="0" indent="0" algn="ctr">
              <a:spcBef>
                <a:spcPts val="800"/>
              </a:spcBef>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76656" y="5909735"/>
            <a:ext cx="9229344" cy="533400"/>
          </a:xfrm>
        </p:spPr>
        <p:txBody>
          <a:bodyPr>
            <a:normAutofit/>
          </a:bodyPr>
          <a:lstStyle>
            <a:lvl1pPr marL="0" indent="0">
              <a:lnSpc>
                <a:spcPct val="90000"/>
              </a:lnSpc>
              <a:buNone/>
              <a:defRPr sz="14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Date Placeholder 8"/>
          <p:cNvSpPr>
            <a:spLocks noGrp="1"/>
          </p:cNvSpPr>
          <p:nvPr>
            <p:ph type="dt" sz="half" idx="10"/>
          </p:nvPr>
        </p:nvSpPr>
        <p:spPr/>
        <p:txBody>
          <a:bodyPr/>
          <a:lstStyle/>
          <a:p>
            <a:fld id="{18EA2753-81DC-4479-9D7E-0EE59B9872B0}" type="datetimeFigureOut">
              <a:rPr lang="en-IN" smtClean="0"/>
              <a:t>13-02-2026</a:t>
            </a:fld>
            <a:endParaRPr lang="en-IN"/>
          </a:p>
        </p:txBody>
      </p:sp>
      <p:sp>
        <p:nvSpPr>
          <p:cNvPr id="10" name="Footer Placeholder 9"/>
          <p:cNvSpPr>
            <a:spLocks noGrp="1"/>
          </p:cNvSpPr>
          <p:nvPr>
            <p:ph type="ftr" sz="quarter" idx="11"/>
          </p:nvPr>
        </p:nvSpPr>
        <p:spPr/>
        <p:txBody>
          <a:bodyPr/>
          <a:lstStyle/>
          <a:p>
            <a:endParaRPr lang="en-IN"/>
          </a:p>
        </p:txBody>
      </p:sp>
      <p:sp>
        <p:nvSpPr>
          <p:cNvPr id="11" name="Slide Number Placeholder 10"/>
          <p:cNvSpPr>
            <a:spLocks noGrp="1"/>
          </p:cNvSpPr>
          <p:nvPr>
            <p:ph type="sldNum" sz="quarter" idx="12"/>
          </p:nvPr>
        </p:nvSpPr>
        <p:spPr/>
        <p:txBody>
          <a:bodyPr/>
          <a:lstStyle/>
          <a:p>
            <a:fld id="{597FD7BA-82C9-429F-9697-8A487987D968}" type="slidenum">
              <a:rPr lang="en-IN" smtClean="0"/>
              <a:t>‹#›</a:t>
            </a:fld>
            <a:endParaRPr lang="en-IN"/>
          </a:p>
        </p:txBody>
      </p:sp>
    </p:spTree>
    <p:extLst>
      <p:ext uri="{BB962C8B-B14F-4D97-AF65-F5344CB8AC3E}">
        <p14:creationId xmlns:p14="http://schemas.microsoft.com/office/powerpoint/2010/main" val="15184274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8EA2753-81DC-4479-9D7E-0EE59B9872B0}" type="datetimeFigureOut">
              <a:rPr lang="en-IN" smtClean="0"/>
              <a:t>13-02-2026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97FD7BA-82C9-429F-9697-8A487987D968}" type="slidenum">
              <a:rPr lang="en-IN" smtClean="0"/>
              <a:t>‹#›</a:t>
            </a:fld>
            <a:endParaRPr lang="en-IN"/>
          </a:p>
        </p:txBody>
      </p:sp>
    </p:spTree>
    <p:extLst>
      <p:ext uri="{BB962C8B-B14F-4D97-AF65-F5344CB8AC3E}">
        <p14:creationId xmlns:p14="http://schemas.microsoft.com/office/powerpoint/2010/main" val="42305001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43950" y="695325"/>
            <a:ext cx="2628900" cy="48006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71525" y="714375"/>
            <a:ext cx="7734300" cy="540067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8EA2753-81DC-4479-9D7E-0EE59B9872B0}" type="datetimeFigureOut">
              <a:rPr lang="en-IN" smtClean="0"/>
              <a:t>13-02-2026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97FD7BA-82C9-429F-9697-8A487987D968}" type="slidenum">
              <a:rPr lang="en-IN" smtClean="0"/>
              <a:t>‹#›</a:t>
            </a:fld>
            <a:endParaRPr lang="en-IN"/>
          </a:p>
        </p:txBody>
      </p:sp>
    </p:spTree>
    <p:extLst>
      <p:ext uri="{BB962C8B-B14F-4D97-AF65-F5344CB8AC3E}">
        <p14:creationId xmlns:p14="http://schemas.microsoft.com/office/powerpoint/2010/main" val="40477700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57224" y="499533"/>
            <a:ext cx="10772775" cy="165819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76656" y="2011680"/>
            <a:ext cx="10753725" cy="376618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85800" y="6412447"/>
            <a:ext cx="4114800" cy="228600"/>
          </a:xfrm>
          <a:prstGeom prst="rect">
            <a:avLst/>
          </a:prstGeom>
        </p:spPr>
        <p:txBody>
          <a:bodyPr vert="horz" lIns="91440" tIns="45720" rIns="91440" bIns="45720" rtlCol="0" anchor="ctr"/>
          <a:lstStyle>
            <a:lvl1pPr algn="l">
              <a:defRPr sz="950">
                <a:solidFill>
                  <a:schemeClr val="tx1">
                    <a:alpha val="80000"/>
                  </a:schemeClr>
                </a:solidFill>
              </a:defRPr>
            </a:lvl1pPr>
          </a:lstStyle>
          <a:p>
            <a:fld id="{18EA2753-81DC-4479-9D7E-0EE59B9872B0}" type="datetimeFigureOut">
              <a:rPr lang="en-IN" smtClean="0"/>
              <a:t>13-02-2026</a:t>
            </a:fld>
            <a:endParaRPr lang="en-IN"/>
          </a:p>
        </p:txBody>
      </p:sp>
      <p:sp>
        <p:nvSpPr>
          <p:cNvPr id="5" name="Footer Placeholder 4"/>
          <p:cNvSpPr>
            <a:spLocks noGrp="1"/>
          </p:cNvSpPr>
          <p:nvPr>
            <p:ph type="ftr" sz="quarter" idx="3"/>
          </p:nvPr>
        </p:nvSpPr>
        <p:spPr>
          <a:xfrm>
            <a:off x="685800" y="6554697"/>
            <a:ext cx="5029200" cy="228600"/>
          </a:xfrm>
          <a:prstGeom prst="rect">
            <a:avLst/>
          </a:prstGeom>
        </p:spPr>
        <p:txBody>
          <a:bodyPr vert="horz" lIns="91440" tIns="45720" rIns="91440" bIns="45720" rtlCol="0" anchor="ctr"/>
          <a:lstStyle>
            <a:lvl1pPr algn="l">
              <a:defRPr sz="950" cap="all" baseline="0">
                <a:solidFill>
                  <a:schemeClr val="tx1">
                    <a:alpha val="80000"/>
                  </a:schemeClr>
                </a:solidFill>
              </a:defRPr>
            </a:lvl1pPr>
          </a:lstStyle>
          <a:p>
            <a:endParaRPr lang="en-IN"/>
          </a:p>
        </p:txBody>
      </p:sp>
      <p:sp>
        <p:nvSpPr>
          <p:cNvPr id="6" name="Slide Number Placeholder 5"/>
          <p:cNvSpPr>
            <a:spLocks noGrp="1"/>
          </p:cNvSpPr>
          <p:nvPr>
            <p:ph type="sldNum" sz="quarter" idx="4"/>
          </p:nvPr>
        </p:nvSpPr>
        <p:spPr>
          <a:xfrm>
            <a:off x="8763926" y="5876412"/>
            <a:ext cx="2926080" cy="1397039"/>
          </a:xfrm>
          <a:prstGeom prst="rect">
            <a:avLst/>
          </a:prstGeom>
        </p:spPr>
        <p:txBody>
          <a:bodyPr vert="horz" lIns="91440" tIns="45720" rIns="91440" bIns="45720" rtlCol="0" anchor="b"/>
          <a:lstStyle>
            <a:lvl1pPr algn="r">
              <a:defRPr sz="10300" b="0">
                <a:ln>
                  <a:noFill/>
                </a:ln>
                <a:solidFill>
                  <a:schemeClr val="tx1">
                    <a:alpha val="20000"/>
                  </a:schemeClr>
                </a:solidFill>
                <a:latin typeface="+mj-lt"/>
              </a:defRPr>
            </a:lvl1pPr>
          </a:lstStyle>
          <a:p>
            <a:fld id="{597FD7BA-82C9-429F-9697-8A487987D968}" type="slidenum">
              <a:rPr lang="en-IN" smtClean="0"/>
              <a:t>‹#›</a:t>
            </a:fld>
            <a:endParaRPr lang="en-IN"/>
          </a:p>
        </p:txBody>
      </p:sp>
    </p:spTree>
    <p:extLst>
      <p:ext uri="{BB962C8B-B14F-4D97-AF65-F5344CB8AC3E}">
        <p14:creationId xmlns:p14="http://schemas.microsoft.com/office/powerpoint/2010/main" val="3196925758"/>
      </p:ext>
    </p:extLst>
  </p:cSld>
  <p:clrMap bg1="dk1" tx1="lt1" bg2="dk2" tx2="lt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85000"/>
        </a:lnSpc>
        <a:spcBef>
          <a:spcPct val="0"/>
        </a:spcBef>
        <a:buNone/>
        <a:defRPr sz="5400" kern="1200" spc="-12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85000"/>
        </a:lnSpc>
        <a:spcBef>
          <a:spcPts val="1300"/>
        </a:spcBef>
        <a:buFont typeface="Arial" pitchFamily="34" charset="0"/>
        <a:buChar char=" "/>
        <a:defRPr sz="2400" kern="1200">
          <a:solidFill>
            <a:schemeClr val="accent1"/>
          </a:solidFill>
          <a:latin typeface="+mn-lt"/>
          <a:ea typeface="+mn-ea"/>
          <a:cs typeface="+mn-cs"/>
        </a:defRPr>
      </a:lvl1pPr>
      <a:lvl2pPr marL="347472" indent="-342900" algn="l" defTabSz="914400" rtl="0" eaLnBrk="1" latinLnBrk="0" hangingPunct="1">
        <a:lnSpc>
          <a:spcPct val="85000"/>
        </a:lnSpc>
        <a:spcBef>
          <a:spcPts val="600"/>
        </a:spcBef>
        <a:buFont typeface="Arial" pitchFamily="34" charset="0"/>
        <a:buChar char=" "/>
        <a:defRPr sz="2400" kern="1200">
          <a:solidFill>
            <a:schemeClr val="tx1">
              <a:lumMod val="75000"/>
              <a:lumOff val="25000"/>
            </a:schemeClr>
          </a:solidFill>
          <a:latin typeface="+mn-lt"/>
          <a:ea typeface="+mn-ea"/>
          <a:cs typeface="+mn-cs"/>
        </a:defRPr>
      </a:lvl2pPr>
      <a:lvl3pPr marL="548640" indent="-548640" algn="l" defTabSz="914400" rtl="0" eaLnBrk="1" latinLnBrk="0" hangingPunct="1">
        <a:lnSpc>
          <a:spcPct val="85000"/>
        </a:lnSpc>
        <a:spcBef>
          <a:spcPts val="600"/>
        </a:spcBef>
        <a:buFont typeface="Arial" pitchFamily="34" charset="0"/>
        <a:buChar char=" "/>
        <a:defRPr sz="2000" i="1" kern="1200">
          <a:solidFill>
            <a:schemeClr val="tx1">
              <a:lumMod val="65000"/>
              <a:lumOff val="35000"/>
            </a:schemeClr>
          </a:solidFill>
          <a:latin typeface="+mn-lt"/>
          <a:ea typeface="+mn-ea"/>
          <a:cs typeface="+mn-cs"/>
        </a:defRPr>
      </a:lvl3pPr>
      <a:lvl4pPr marL="822960" indent="-822960" algn="l" defTabSz="914400" rtl="0" eaLnBrk="1" latinLnBrk="0" hangingPunct="1">
        <a:lnSpc>
          <a:spcPct val="85000"/>
        </a:lnSpc>
        <a:spcBef>
          <a:spcPts val="600"/>
        </a:spcBef>
        <a:buFont typeface="Arial" pitchFamily="34" charset="0"/>
        <a:buChar char=" "/>
        <a:defRPr sz="1800" kern="1200">
          <a:solidFill>
            <a:schemeClr val="tx1">
              <a:lumMod val="65000"/>
              <a:lumOff val="35000"/>
            </a:schemeClr>
          </a:solidFill>
          <a:latin typeface="+mn-lt"/>
          <a:ea typeface="+mn-ea"/>
          <a:cs typeface="+mn-cs"/>
        </a:defRPr>
      </a:lvl4pPr>
      <a:lvl5pPr marL="1097280" indent="-1097280" algn="l" defTabSz="914400" rtl="0" eaLnBrk="1" latinLnBrk="0" hangingPunct="1">
        <a:lnSpc>
          <a:spcPct val="85000"/>
        </a:lnSpc>
        <a:spcBef>
          <a:spcPts val="600"/>
        </a:spcBef>
        <a:buFont typeface="Arial" pitchFamily="34" charset="0"/>
        <a:buChar char=" "/>
        <a:defRPr sz="1800" kern="1200">
          <a:solidFill>
            <a:schemeClr val="tx1">
              <a:lumMod val="65000"/>
              <a:lumOff val="35000"/>
            </a:schemeClr>
          </a:solidFill>
          <a:latin typeface="+mn-lt"/>
          <a:ea typeface="+mn-ea"/>
          <a:cs typeface="+mn-cs"/>
        </a:defRPr>
      </a:lvl5pPr>
      <a:lvl6pPr marL="1200000" indent="-228600" algn="l" defTabSz="914400" rtl="0" eaLnBrk="1" latinLnBrk="0" hangingPunct="1">
        <a:lnSpc>
          <a:spcPct val="85000"/>
        </a:lnSpc>
        <a:spcBef>
          <a:spcPts val="600"/>
        </a:spcBef>
        <a:buFont typeface="Arial" pitchFamily="34" charset="0"/>
        <a:buChar char=" "/>
        <a:defRPr sz="1800" kern="1200">
          <a:solidFill>
            <a:schemeClr val="tx1">
              <a:lumMod val="65000"/>
              <a:lumOff val="35000"/>
            </a:schemeClr>
          </a:solidFill>
          <a:latin typeface="+mn-lt"/>
          <a:ea typeface="+mn-ea"/>
          <a:cs typeface="+mn-cs"/>
        </a:defRPr>
      </a:lvl6pPr>
      <a:lvl7pPr marL="1400000" indent="-228600" algn="l" defTabSz="914400" rtl="0" eaLnBrk="1" latinLnBrk="0" hangingPunct="1">
        <a:lnSpc>
          <a:spcPct val="85000"/>
        </a:lnSpc>
        <a:spcBef>
          <a:spcPts val="600"/>
        </a:spcBef>
        <a:buFont typeface="Arial" pitchFamily="34" charset="0"/>
        <a:buChar char=" "/>
        <a:defRPr sz="1800" kern="1200">
          <a:solidFill>
            <a:schemeClr val="tx1">
              <a:lumMod val="65000"/>
              <a:lumOff val="35000"/>
            </a:schemeClr>
          </a:solidFill>
          <a:latin typeface="+mn-lt"/>
          <a:ea typeface="+mn-ea"/>
          <a:cs typeface="+mn-cs"/>
        </a:defRPr>
      </a:lvl7pPr>
      <a:lvl8pPr marL="1600000" indent="-228600" algn="l" defTabSz="914400" rtl="0" eaLnBrk="1" latinLnBrk="0" hangingPunct="1">
        <a:lnSpc>
          <a:spcPct val="85000"/>
        </a:lnSpc>
        <a:spcBef>
          <a:spcPts val="600"/>
        </a:spcBef>
        <a:buFont typeface="Arial" pitchFamily="34" charset="0"/>
        <a:buChar char=" "/>
        <a:defRPr sz="1800" kern="1200">
          <a:solidFill>
            <a:schemeClr val="tx1">
              <a:lumMod val="65000"/>
              <a:lumOff val="35000"/>
            </a:schemeClr>
          </a:solidFill>
          <a:latin typeface="+mn-lt"/>
          <a:ea typeface="+mn-ea"/>
          <a:cs typeface="+mn-cs"/>
        </a:defRPr>
      </a:lvl8pPr>
      <a:lvl9pPr marL="1800000" indent="-228600" algn="l" defTabSz="914400" rtl="0" eaLnBrk="1" latinLnBrk="0" hangingPunct="1">
        <a:lnSpc>
          <a:spcPct val="85000"/>
        </a:lnSpc>
        <a:spcBef>
          <a:spcPts val="600"/>
        </a:spcBef>
        <a:buFont typeface="Arial" pitchFamily="34" charset="0"/>
        <a:buChar char=" "/>
        <a:defRPr sz="1800" kern="1200">
          <a:solidFill>
            <a:schemeClr val="tx1">
              <a:lumMod val="65000"/>
              <a:lumOff val="3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A3F3B4B-4C45-6251-B8CD-36EBE4BBEB8A}"/>
              </a:ext>
            </a:extLst>
          </p:cNvPr>
          <p:cNvSpPr>
            <a:spLocks noGrp="1"/>
          </p:cNvSpPr>
          <p:nvPr>
            <p:ph type="title"/>
          </p:nvPr>
        </p:nvSpPr>
        <p:spPr>
          <a:xfrm>
            <a:off x="838200" y="1314450"/>
            <a:ext cx="10515600" cy="3382329"/>
          </a:xfrm>
        </p:spPr>
        <p:txBody>
          <a:bodyPr>
            <a:normAutofit/>
          </a:bodyPr>
          <a:lstStyle/>
          <a:p>
            <a:pPr algn="ctr"/>
            <a:br>
              <a:rPr lang="en-US" dirty="0"/>
            </a:br>
            <a:r>
              <a:rPr lang="en-US" sz="4800" b="1" dirty="0"/>
              <a:t>Evaluation of Style Advisor Performance</a:t>
            </a:r>
            <a:br>
              <a:rPr lang="en-US" sz="4800" dirty="0"/>
            </a:br>
            <a:r>
              <a:rPr lang="en-US" sz="4800" dirty="0"/>
              <a:t>Comprehensive Analysis and Insights</a:t>
            </a:r>
            <a:br>
              <a:rPr lang="en-US" dirty="0"/>
            </a:br>
            <a:endParaRPr lang="en-IN" dirty="0"/>
          </a:p>
        </p:txBody>
      </p:sp>
    </p:spTree>
    <p:extLst>
      <p:ext uri="{BB962C8B-B14F-4D97-AF65-F5344CB8AC3E}">
        <p14:creationId xmlns:p14="http://schemas.microsoft.com/office/powerpoint/2010/main" val="10116773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667AE1-33A5-E35C-5CF8-811E58600501}"/>
              </a:ext>
            </a:extLst>
          </p:cNvPr>
          <p:cNvSpPr>
            <a:spLocks noGrp="1"/>
          </p:cNvSpPr>
          <p:nvPr>
            <p:ph type="title"/>
          </p:nvPr>
        </p:nvSpPr>
        <p:spPr>
          <a:xfrm>
            <a:off x="709612" y="891540"/>
            <a:ext cx="10772775" cy="4937760"/>
          </a:xfrm>
        </p:spPr>
        <p:txBody>
          <a:bodyPr>
            <a:noAutofit/>
          </a:bodyPr>
          <a:lstStyle/>
          <a:p>
            <a:r>
              <a:rPr lang="en-US" sz="3200" b="1" dirty="0">
                <a:latin typeface="+mn-lt"/>
              </a:rPr>
              <a:t>Introduction</a:t>
            </a:r>
            <a:br>
              <a:rPr lang="en-US" sz="2800" b="1" dirty="0">
                <a:latin typeface="+mn-lt"/>
              </a:rPr>
            </a:br>
            <a:r>
              <a:rPr lang="en-US" sz="2800" dirty="0">
                <a:latin typeface="+mn-lt"/>
              </a:rPr>
              <a:t>This project analyzes the performance of Style Advisors using evaluation data collected across different zones and time periods. The study uses Excel tools such as grading formulas, pivot tables, and visualizations to derive actionable insights.</a:t>
            </a:r>
            <a:br>
              <a:rPr lang="en-US" sz="2800" dirty="0">
                <a:latin typeface="+mn-lt"/>
              </a:rPr>
            </a:br>
            <a:br>
              <a:rPr lang="en-US" sz="2800" dirty="0">
                <a:latin typeface="+mn-lt"/>
              </a:rPr>
            </a:br>
            <a:br>
              <a:rPr lang="en-US" sz="2800" dirty="0">
                <a:latin typeface="+mn-lt"/>
              </a:rPr>
            </a:br>
            <a:r>
              <a:rPr lang="en-US" sz="3200" b="1" dirty="0">
                <a:latin typeface="+mn-lt"/>
              </a:rPr>
              <a:t>Objectives</a:t>
            </a:r>
            <a:br>
              <a:rPr lang="en-US" sz="2800" b="1" dirty="0">
                <a:latin typeface="+mn-lt"/>
              </a:rPr>
            </a:br>
            <a:r>
              <a:rPr lang="en-US" sz="2800" b="1" dirty="0">
                <a:latin typeface="+mn-lt"/>
              </a:rPr>
              <a:t>. </a:t>
            </a:r>
            <a:r>
              <a:rPr lang="en-US" sz="2800" dirty="0">
                <a:latin typeface="+mn-lt"/>
              </a:rPr>
              <a:t>Classify advisors based on performance levels</a:t>
            </a:r>
            <a:br>
              <a:rPr lang="en-US" sz="2800" dirty="0">
                <a:latin typeface="+mn-lt"/>
              </a:rPr>
            </a:br>
            <a:r>
              <a:rPr lang="en-US" sz="2800" dirty="0">
                <a:latin typeface="+mn-lt"/>
              </a:rPr>
              <a:t>. Compare zones using average scores</a:t>
            </a:r>
            <a:br>
              <a:rPr lang="en-US" sz="2800" dirty="0">
                <a:latin typeface="+mn-lt"/>
              </a:rPr>
            </a:br>
            <a:r>
              <a:rPr lang="en-US" sz="2800" dirty="0">
                <a:latin typeface="+mn-lt"/>
              </a:rPr>
              <a:t>. Identify high-performing regions</a:t>
            </a:r>
            <a:br>
              <a:rPr lang="en-US" sz="2800" dirty="0">
                <a:latin typeface="+mn-lt"/>
              </a:rPr>
            </a:br>
            <a:r>
              <a:rPr lang="en-US" sz="2800" dirty="0">
                <a:latin typeface="+mn-lt"/>
              </a:rPr>
              <a:t>. Track performance trends over time</a:t>
            </a:r>
            <a:br>
              <a:rPr lang="en-US" sz="2800" dirty="0">
                <a:latin typeface="+mn-lt"/>
              </a:rPr>
            </a:br>
            <a:r>
              <a:rPr lang="en-US" sz="2800" dirty="0">
                <a:latin typeface="+mn-lt"/>
              </a:rPr>
              <a:t>. Highlight improvement opportunities</a:t>
            </a:r>
            <a:br>
              <a:rPr lang="en-US" sz="2800" dirty="0"/>
            </a:br>
            <a:endParaRPr lang="en-IN" sz="2800" dirty="0"/>
          </a:p>
        </p:txBody>
      </p:sp>
    </p:spTree>
    <p:extLst>
      <p:ext uri="{BB962C8B-B14F-4D97-AF65-F5344CB8AC3E}">
        <p14:creationId xmlns:p14="http://schemas.microsoft.com/office/powerpoint/2010/main" val="30392608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59D605-AF30-0344-5E96-BB9855A4C21F}"/>
              </a:ext>
            </a:extLst>
          </p:cNvPr>
          <p:cNvSpPr>
            <a:spLocks noGrp="1"/>
          </p:cNvSpPr>
          <p:nvPr>
            <p:ph type="title"/>
          </p:nvPr>
        </p:nvSpPr>
        <p:spPr>
          <a:xfrm>
            <a:off x="709612" y="594360"/>
            <a:ext cx="10772775" cy="5154929"/>
          </a:xfrm>
        </p:spPr>
        <p:txBody>
          <a:bodyPr>
            <a:noAutofit/>
          </a:bodyPr>
          <a:lstStyle/>
          <a:p>
            <a:br>
              <a:rPr lang="en-IN" sz="2800" dirty="0"/>
            </a:br>
            <a:r>
              <a:rPr lang="en-IN" sz="3200" b="1" dirty="0"/>
              <a:t>Data Overview</a:t>
            </a:r>
            <a:br>
              <a:rPr lang="en-IN" sz="3200" dirty="0"/>
            </a:br>
            <a:br>
              <a:rPr lang="en-IN" sz="3200" dirty="0"/>
            </a:br>
            <a:r>
              <a:rPr lang="en-IN" sz="2800" dirty="0"/>
              <a:t>The dataset includes multiple attributes used to evaluate service quality.</a:t>
            </a:r>
            <a:br>
              <a:rPr lang="en-IN" sz="2800" dirty="0"/>
            </a:br>
            <a:br>
              <a:rPr lang="en-IN" sz="2800" dirty="0"/>
            </a:br>
            <a:r>
              <a:rPr lang="en-IN" sz="2800" b="1" dirty="0"/>
              <a:t>Key Columns:</a:t>
            </a:r>
            <a:br>
              <a:rPr lang="en-IN" sz="2800" b="1" dirty="0"/>
            </a:br>
            <a:r>
              <a:rPr lang="en-IN" sz="2800" b="1" dirty="0"/>
              <a:t>1. </a:t>
            </a:r>
            <a:r>
              <a:rPr lang="en-IN" sz="2800" dirty="0"/>
              <a:t>Date of evaluation</a:t>
            </a:r>
            <a:br>
              <a:rPr lang="en-IN" sz="2800" dirty="0"/>
            </a:br>
            <a:r>
              <a:rPr lang="en-IN" sz="2800" dirty="0"/>
              <a:t>2. Zone / Region</a:t>
            </a:r>
            <a:br>
              <a:rPr lang="en-IN" sz="2800" dirty="0"/>
            </a:br>
            <a:r>
              <a:rPr lang="en-IN" sz="2800" dirty="0"/>
              <a:t>3. Store / Location</a:t>
            </a:r>
            <a:br>
              <a:rPr lang="en-IN" sz="2800" dirty="0"/>
            </a:br>
            <a:r>
              <a:rPr lang="en-IN" sz="2800" dirty="0"/>
              <a:t>4. Style Advisor</a:t>
            </a:r>
            <a:br>
              <a:rPr lang="en-IN" sz="2800" dirty="0"/>
            </a:br>
            <a:r>
              <a:rPr lang="en-IN" sz="2800" dirty="0"/>
              <a:t>5. Individual criteria scores</a:t>
            </a:r>
            <a:br>
              <a:rPr lang="en-IN" sz="2800" dirty="0"/>
            </a:br>
            <a:r>
              <a:rPr lang="en-IN" sz="2800" dirty="0"/>
              <a:t>6. Final Evaluation Score</a:t>
            </a:r>
            <a:br>
              <a:rPr lang="en-IN" sz="2800" dirty="0"/>
            </a:br>
            <a:r>
              <a:rPr lang="en-IN" sz="2800" dirty="0"/>
              <a:t>7. Performance Grade (derived)</a:t>
            </a:r>
            <a:br>
              <a:rPr lang="en-IN" sz="2800" dirty="0"/>
            </a:br>
            <a:br>
              <a:rPr lang="en-IN" sz="2800" dirty="0"/>
            </a:br>
            <a:r>
              <a:rPr lang="en-IN" sz="2800" dirty="0"/>
              <a:t>The dataset allows both </a:t>
            </a:r>
            <a:r>
              <a:rPr lang="en-IN" sz="2800" b="1" dirty="0"/>
              <a:t>individual</a:t>
            </a:r>
            <a:r>
              <a:rPr lang="en-IN" sz="2800" dirty="0"/>
              <a:t> and </a:t>
            </a:r>
            <a:r>
              <a:rPr lang="en-IN" sz="2800" b="1" dirty="0"/>
              <a:t>regional</a:t>
            </a:r>
            <a:r>
              <a:rPr lang="en-IN" sz="2800" dirty="0"/>
              <a:t> performance analysis.</a:t>
            </a:r>
            <a:br>
              <a:rPr lang="en-IN" sz="2800" dirty="0"/>
            </a:br>
            <a:endParaRPr lang="en-IN" sz="2800" dirty="0"/>
          </a:p>
        </p:txBody>
      </p:sp>
    </p:spTree>
    <p:extLst>
      <p:ext uri="{BB962C8B-B14F-4D97-AF65-F5344CB8AC3E}">
        <p14:creationId xmlns:p14="http://schemas.microsoft.com/office/powerpoint/2010/main" val="4131421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FB39FA2E-8708-038A-9805-21B9082B28F1}"/>
              </a:ext>
            </a:extLst>
          </p:cNvPr>
          <p:cNvGraphicFramePr>
            <a:graphicFrameLocks noGrp="1"/>
          </p:cNvGraphicFramePr>
          <p:nvPr>
            <p:extLst>
              <p:ext uri="{D42A27DB-BD31-4B8C-83A1-F6EECF244321}">
                <p14:modId xmlns:p14="http://schemas.microsoft.com/office/powerpoint/2010/main" val="3507853760"/>
              </p:ext>
            </p:extLst>
          </p:nvPr>
        </p:nvGraphicFramePr>
        <p:xfrm>
          <a:off x="474344" y="3783330"/>
          <a:ext cx="10753724" cy="2144850"/>
        </p:xfrm>
        <a:graphic>
          <a:graphicData uri="http://schemas.openxmlformats.org/drawingml/2006/table">
            <a:tbl>
              <a:tblPr>
                <a:tableStyleId>{616DA210-FB5B-4158-B5E0-FEB733F419BA}</a:tableStyleId>
              </a:tblPr>
              <a:tblGrid>
                <a:gridCol w="5343526">
                  <a:extLst>
                    <a:ext uri="{9D8B030D-6E8A-4147-A177-3AD203B41FA5}">
                      <a16:colId xmlns:a16="http://schemas.microsoft.com/office/drawing/2014/main" val="3739822955"/>
                    </a:ext>
                  </a:extLst>
                </a:gridCol>
                <a:gridCol w="5410198">
                  <a:extLst>
                    <a:ext uri="{9D8B030D-6E8A-4147-A177-3AD203B41FA5}">
                      <a16:colId xmlns:a16="http://schemas.microsoft.com/office/drawing/2014/main" val="3327621362"/>
                    </a:ext>
                  </a:extLst>
                </a:gridCol>
              </a:tblGrid>
              <a:tr h="428970">
                <a:tc>
                  <a:txBody>
                    <a:bodyPr/>
                    <a:lstStyle/>
                    <a:p>
                      <a:pPr>
                        <a:buNone/>
                      </a:pPr>
                      <a:r>
                        <a:rPr lang="en-IN" sz="1800"/>
                        <a:t>Score Range</a:t>
                      </a:r>
                    </a:p>
                  </a:txBody>
                  <a:tcPr anchor="ctr"/>
                </a:tc>
                <a:tc>
                  <a:txBody>
                    <a:bodyPr/>
                    <a:lstStyle/>
                    <a:p>
                      <a:pPr>
                        <a:buNone/>
                      </a:pPr>
                      <a:r>
                        <a:rPr lang="en-IN" sz="1800"/>
                        <a:t>Category</a:t>
                      </a:r>
                    </a:p>
                  </a:txBody>
                  <a:tcPr anchor="ctr"/>
                </a:tc>
                <a:extLst>
                  <a:ext uri="{0D108BD9-81ED-4DB2-BD59-A6C34878D82A}">
                    <a16:rowId xmlns:a16="http://schemas.microsoft.com/office/drawing/2014/main" val="2494214215"/>
                  </a:ext>
                </a:extLst>
              </a:tr>
              <a:tr h="428970">
                <a:tc>
                  <a:txBody>
                    <a:bodyPr/>
                    <a:lstStyle/>
                    <a:p>
                      <a:pPr>
                        <a:buNone/>
                      </a:pPr>
                      <a:r>
                        <a:rPr lang="en-IN" sz="1800" dirty="0"/>
                        <a:t>90 – 100</a:t>
                      </a:r>
                    </a:p>
                  </a:txBody>
                  <a:tcPr anchor="ctr"/>
                </a:tc>
                <a:tc>
                  <a:txBody>
                    <a:bodyPr/>
                    <a:lstStyle/>
                    <a:p>
                      <a:pPr>
                        <a:buNone/>
                      </a:pPr>
                      <a:r>
                        <a:rPr lang="en-IN" sz="1800" dirty="0"/>
                        <a:t>High Performer</a:t>
                      </a:r>
                    </a:p>
                  </a:txBody>
                  <a:tcPr anchor="ctr"/>
                </a:tc>
                <a:extLst>
                  <a:ext uri="{0D108BD9-81ED-4DB2-BD59-A6C34878D82A}">
                    <a16:rowId xmlns:a16="http://schemas.microsoft.com/office/drawing/2014/main" val="2524999504"/>
                  </a:ext>
                </a:extLst>
              </a:tr>
              <a:tr h="428970">
                <a:tc>
                  <a:txBody>
                    <a:bodyPr/>
                    <a:lstStyle/>
                    <a:p>
                      <a:pPr>
                        <a:buNone/>
                      </a:pPr>
                      <a:r>
                        <a:rPr lang="en-IN" sz="1800" dirty="0"/>
                        <a:t>70 – 89</a:t>
                      </a:r>
                    </a:p>
                  </a:txBody>
                  <a:tcPr anchor="ctr"/>
                </a:tc>
                <a:tc>
                  <a:txBody>
                    <a:bodyPr/>
                    <a:lstStyle/>
                    <a:p>
                      <a:pPr>
                        <a:buNone/>
                      </a:pPr>
                      <a:r>
                        <a:rPr lang="en-IN" sz="1800" dirty="0"/>
                        <a:t>Average Performer</a:t>
                      </a:r>
                    </a:p>
                  </a:txBody>
                  <a:tcPr anchor="ctr"/>
                </a:tc>
                <a:extLst>
                  <a:ext uri="{0D108BD9-81ED-4DB2-BD59-A6C34878D82A}">
                    <a16:rowId xmlns:a16="http://schemas.microsoft.com/office/drawing/2014/main" val="3070051154"/>
                  </a:ext>
                </a:extLst>
              </a:tr>
              <a:tr h="428970">
                <a:tc>
                  <a:txBody>
                    <a:bodyPr/>
                    <a:lstStyle/>
                    <a:p>
                      <a:pPr>
                        <a:buNone/>
                      </a:pPr>
                      <a:r>
                        <a:rPr lang="en-IN" sz="1800"/>
                        <a:t>50 – 69</a:t>
                      </a:r>
                    </a:p>
                  </a:txBody>
                  <a:tcPr anchor="ctr"/>
                </a:tc>
                <a:tc>
                  <a:txBody>
                    <a:bodyPr/>
                    <a:lstStyle/>
                    <a:p>
                      <a:pPr>
                        <a:buNone/>
                      </a:pPr>
                      <a:r>
                        <a:rPr lang="en-IN" sz="1800"/>
                        <a:t>Low Performer</a:t>
                      </a:r>
                    </a:p>
                  </a:txBody>
                  <a:tcPr anchor="ctr"/>
                </a:tc>
                <a:extLst>
                  <a:ext uri="{0D108BD9-81ED-4DB2-BD59-A6C34878D82A}">
                    <a16:rowId xmlns:a16="http://schemas.microsoft.com/office/drawing/2014/main" val="235493489"/>
                  </a:ext>
                </a:extLst>
              </a:tr>
              <a:tr h="428970">
                <a:tc>
                  <a:txBody>
                    <a:bodyPr/>
                    <a:lstStyle/>
                    <a:p>
                      <a:pPr>
                        <a:buNone/>
                      </a:pPr>
                      <a:r>
                        <a:rPr lang="en-IN" sz="1800" dirty="0"/>
                        <a:t>Below 50</a:t>
                      </a:r>
                    </a:p>
                  </a:txBody>
                  <a:tcPr anchor="ctr"/>
                </a:tc>
                <a:tc>
                  <a:txBody>
                    <a:bodyPr/>
                    <a:lstStyle/>
                    <a:p>
                      <a:pPr>
                        <a:buNone/>
                      </a:pPr>
                      <a:r>
                        <a:rPr lang="en-IN" sz="1800" dirty="0"/>
                        <a:t>Bottom Performer</a:t>
                      </a:r>
                    </a:p>
                  </a:txBody>
                  <a:tcPr anchor="ctr"/>
                </a:tc>
                <a:extLst>
                  <a:ext uri="{0D108BD9-81ED-4DB2-BD59-A6C34878D82A}">
                    <a16:rowId xmlns:a16="http://schemas.microsoft.com/office/drawing/2014/main" val="692080566"/>
                  </a:ext>
                </a:extLst>
              </a:tr>
            </a:tbl>
          </a:graphicData>
        </a:graphic>
      </p:graphicFrame>
      <p:sp>
        <p:nvSpPr>
          <p:cNvPr id="6" name="Rectangle 2">
            <a:extLst>
              <a:ext uri="{FF2B5EF4-FFF2-40B4-BE49-F238E27FC236}">
                <a16:creationId xmlns:a16="http://schemas.microsoft.com/office/drawing/2014/main" id="{52C1B63F-2D87-E764-4A13-64B46C941E10}"/>
              </a:ext>
            </a:extLst>
          </p:cNvPr>
          <p:cNvSpPr>
            <a:spLocks noGrp="1" noChangeArrowheads="1"/>
          </p:cNvSpPr>
          <p:nvPr>
            <p:ph type="title"/>
          </p:nvPr>
        </p:nvSpPr>
        <p:spPr bwMode="auto">
          <a:xfrm>
            <a:off x="474344" y="493482"/>
            <a:ext cx="9744076" cy="27392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3200" b="1" i="0" u="none" strike="noStrike" cap="none" normalizeH="0" baseline="0" dirty="0">
                <a:ln>
                  <a:noFill/>
                </a:ln>
                <a:solidFill>
                  <a:schemeClr val="tx1"/>
                </a:solidFill>
                <a:effectLst/>
                <a:latin typeface="+mn-lt"/>
              </a:rPr>
              <a:t>Performance Grading</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1" i="0" u="none" strike="noStrike" cap="none" normalizeH="0" baseline="0" dirty="0">
              <a:ln>
                <a:noFill/>
              </a:ln>
              <a:solidFill>
                <a:schemeClr val="tx1"/>
              </a:solidFill>
              <a:effectLst/>
              <a:latin typeface="+mn-l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chemeClr val="tx1"/>
                </a:solidFill>
                <a:effectLst/>
                <a:latin typeface="+mn-lt"/>
              </a:rPr>
              <a:t>Grading Scale</a:t>
            </a:r>
            <a:br>
              <a:rPr kumimoji="0" lang="en-US" altLang="en-US" sz="2400" b="1" i="0" u="none" strike="noStrike" cap="none" normalizeH="0" baseline="0" dirty="0">
                <a:ln>
                  <a:noFill/>
                </a:ln>
                <a:solidFill>
                  <a:schemeClr val="tx1"/>
                </a:solidFill>
                <a:effectLst/>
                <a:latin typeface="+mn-lt"/>
              </a:rPr>
            </a:br>
            <a:r>
              <a:rPr kumimoji="0" lang="en-US" altLang="en-US" sz="2400" b="1" i="0" u="none" strike="noStrike" cap="none" normalizeH="0" baseline="0" dirty="0">
                <a:ln>
                  <a:noFill/>
                </a:ln>
                <a:solidFill>
                  <a:schemeClr val="tx1"/>
                </a:solidFill>
                <a:effectLst/>
                <a:latin typeface="+mn-lt"/>
              </a:rPr>
              <a:t>Method</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latin typeface="+mn-lt"/>
              </a:rPr>
              <a:t>Grades were assigned using a nested IF formula in Excel based on Evaluation Score.</a:t>
            </a:r>
            <a:endParaRPr kumimoji="0" lang="en-US" altLang="en-US" sz="2400" b="1" i="0" u="none" strike="noStrike" cap="none" normalizeH="0" baseline="0" dirty="0">
              <a:ln>
                <a:noFill/>
              </a:ln>
              <a:solidFill>
                <a:schemeClr val="tx1"/>
              </a:solidFill>
              <a:effectLst/>
              <a:latin typeface="+mn-l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chemeClr val="tx1"/>
                </a:solidFill>
                <a:effectLst/>
                <a:latin typeface="+mn-lt"/>
              </a:rPr>
              <a:t>Purpose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latin typeface="+mn-lt"/>
              </a:rPr>
              <a:t>This helps segment employees and support decision-making for rewards and training</a:t>
            </a:r>
            <a:r>
              <a:rPr kumimoji="0" lang="en-US" altLang="en-US" sz="800" b="0" i="0" u="none" strike="noStrike" cap="none" normalizeH="0" baseline="0" dirty="0">
                <a:ln>
                  <a:noFill/>
                </a:ln>
                <a:solidFill>
                  <a:schemeClr val="tx1"/>
                </a:solidFill>
                <a:effectLst/>
                <a:latin typeface="Arial" panose="020B0604020202020204" pitchFamily="34" charset="0"/>
              </a:rPr>
              <a:t>.</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3904212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4EB20D-4B80-062B-4DE3-06C3DD572F4C}"/>
              </a:ext>
            </a:extLst>
          </p:cNvPr>
          <p:cNvSpPr>
            <a:spLocks noGrp="1"/>
          </p:cNvSpPr>
          <p:nvPr>
            <p:ph type="title"/>
          </p:nvPr>
        </p:nvSpPr>
        <p:spPr>
          <a:xfrm>
            <a:off x="508634" y="251460"/>
            <a:ext cx="10772775" cy="6124733"/>
          </a:xfrm>
        </p:spPr>
        <p:txBody>
          <a:bodyPr>
            <a:normAutofit/>
          </a:bodyPr>
          <a:lstStyle/>
          <a:p>
            <a:r>
              <a:rPr lang="en-IN" sz="3200" dirty="0"/>
              <a:t>Visualizations:</a:t>
            </a:r>
            <a:br>
              <a:rPr lang="en-IN" sz="3200" dirty="0"/>
            </a:br>
            <a:r>
              <a:rPr lang="en-US" sz="3200" b="1" dirty="0"/>
              <a:t>Bar Chart – Average Evaluation Scores by Zone</a:t>
            </a:r>
            <a:br>
              <a:rPr lang="en-US" sz="3200" b="1" dirty="0"/>
            </a:br>
            <a:br>
              <a:rPr lang="en-US" sz="2400" b="1" dirty="0"/>
            </a:br>
            <a:r>
              <a:rPr lang="en-US" sz="2400" dirty="0"/>
              <a:t>The chart compares overall performance levels across different zones.</a:t>
            </a:r>
            <a:br>
              <a:rPr lang="en-US" sz="2400" dirty="0"/>
            </a:br>
            <a:r>
              <a:rPr lang="en-US" sz="2400" dirty="0"/>
              <a:t>Zones with higher averages demonstrate better service consistency and operational effectiveness.</a:t>
            </a:r>
            <a:br>
              <a:rPr lang="en-US" sz="2400" dirty="0"/>
            </a:br>
            <a:r>
              <a:rPr lang="en-US" sz="2400" dirty="0"/>
              <a:t>Lower-scoring regions may require additional supervision, training, or resource support.</a:t>
            </a:r>
            <a:br>
              <a:rPr lang="en-US" sz="2400" dirty="0"/>
            </a:br>
            <a:r>
              <a:rPr lang="en-US" sz="2400" dirty="0"/>
              <a:t>The variation indicates opportunities for cross-learning from top-performing zones.</a:t>
            </a:r>
            <a:br>
              <a:rPr lang="en-US" sz="2400" dirty="0"/>
            </a:br>
            <a:br>
              <a:rPr lang="en-US" sz="2400" dirty="0"/>
            </a:br>
            <a:br>
              <a:rPr lang="en-US" sz="2400" dirty="0"/>
            </a:br>
            <a:br>
              <a:rPr lang="en-IN" sz="3200" dirty="0"/>
            </a:br>
            <a:br>
              <a:rPr lang="en-IN" sz="3200" dirty="0"/>
            </a:br>
            <a:br>
              <a:rPr lang="en-IN" sz="3200" dirty="0"/>
            </a:br>
            <a:br>
              <a:rPr lang="en-IN" sz="3200" dirty="0"/>
            </a:br>
            <a:br>
              <a:rPr lang="en-IN" sz="3200" dirty="0"/>
            </a:br>
            <a:br>
              <a:rPr lang="en-IN" sz="3200" dirty="0"/>
            </a:br>
            <a:endParaRPr lang="en-IN" sz="3200" dirty="0"/>
          </a:p>
        </p:txBody>
      </p:sp>
      <p:pic>
        <p:nvPicPr>
          <p:cNvPr id="7" name="Picture 6">
            <a:extLst>
              <a:ext uri="{FF2B5EF4-FFF2-40B4-BE49-F238E27FC236}">
                <a16:creationId xmlns:a16="http://schemas.microsoft.com/office/drawing/2014/main" id="{AB71D101-1F6B-F2B8-026E-5B973720AFD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49568" y="3018260"/>
            <a:ext cx="5001323" cy="3038899"/>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24055040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F0F7F3-499A-F9C5-ECF5-FD61244DBC0E}"/>
              </a:ext>
            </a:extLst>
          </p:cNvPr>
          <p:cNvSpPr>
            <a:spLocks noGrp="1"/>
          </p:cNvSpPr>
          <p:nvPr>
            <p:ph type="title"/>
          </p:nvPr>
        </p:nvSpPr>
        <p:spPr>
          <a:xfrm>
            <a:off x="709612" y="379729"/>
            <a:ext cx="10772775" cy="3049271"/>
          </a:xfrm>
        </p:spPr>
        <p:txBody>
          <a:bodyPr>
            <a:noAutofit/>
          </a:bodyPr>
          <a:lstStyle/>
          <a:p>
            <a:r>
              <a:rPr lang="en-US" sz="3200" b="1" dirty="0"/>
              <a:t>Pie Chart – Percentage of High Performers by Zone</a:t>
            </a:r>
            <a:br>
              <a:rPr lang="en-US" sz="3200" b="1" dirty="0"/>
            </a:br>
            <a:br>
              <a:rPr lang="en-US" sz="2400" b="1" dirty="0"/>
            </a:br>
            <a:r>
              <a:rPr lang="en-US" sz="2400" dirty="0"/>
              <a:t>The distribution shows how top talent is spread geographically.</a:t>
            </a:r>
            <a:br>
              <a:rPr lang="en-US" sz="2400" dirty="0"/>
            </a:br>
            <a:r>
              <a:rPr lang="en-US" sz="2400" dirty="0"/>
              <a:t>Zones contributing a larger share of high performers can act as internal benchmarks.</a:t>
            </a:r>
            <a:br>
              <a:rPr lang="en-US" sz="2400" dirty="0"/>
            </a:br>
            <a:r>
              <a:rPr lang="en-US" sz="2400" dirty="0"/>
              <a:t>Regions with smaller contributions highlight potential improvement areas.</a:t>
            </a:r>
            <a:br>
              <a:rPr lang="en-US" sz="2400" dirty="0"/>
            </a:br>
            <a:r>
              <a:rPr lang="en-US" sz="2400" dirty="0"/>
              <a:t>The analysis helps management focus recognition and replication of best practices.</a:t>
            </a:r>
            <a:br>
              <a:rPr lang="en-US" sz="2400" dirty="0"/>
            </a:br>
            <a:br>
              <a:rPr lang="en-US" sz="2400" dirty="0"/>
            </a:br>
            <a:br>
              <a:rPr lang="en-US" sz="2400" dirty="0"/>
            </a:br>
            <a:endParaRPr lang="en-IN" sz="2400" dirty="0"/>
          </a:p>
        </p:txBody>
      </p:sp>
      <p:pic>
        <p:nvPicPr>
          <p:cNvPr id="4" name="Picture 3">
            <a:extLst>
              <a:ext uri="{FF2B5EF4-FFF2-40B4-BE49-F238E27FC236}">
                <a16:creationId xmlns:a16="http://schemas.microsoft.com/office/drawing/2014/main" id="{AD35D6A7-DA82-DA8A-A965-F2AAE0A06F3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34640" y="2754631"/>
            <a:ext cx="5109210" cy="3148748"/>
          </a:xfrm>
          <a:prstGeom prst="rect">
            <a:avLst/>
          </a:prstGeom>
        </p:spPr>
      </p:pic>
    </p:spTree>
    <p:extLst>
      <p:ext uri="{BB962C8B-B14F-4D97-AF65-F5344CB8AC3E}">
        <p14:creationId xmlns:p14="http://schemas.microsoft.com/office/powerpoint/2010/main" val="29266723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132C15-A51A-CF1A-FC88-A15699C13DA9}"/>
              </a:ext>
            </a:extLst>
          </p:cNvPr>
          <p:cNvSpPr>
            <a:spLocks noGrp="1"/>
          </p:cNvSpPr>
          <p:nvPr>
            <p:ph type="title"/>
          </p:nvPr>
        </p:nvSpPr>
        <p:spPr>
          <a:xfrm>
            <a:off x="709612" y="434340"/>
            <a:ext cx="10772775" cy="2249171"/>
          </a:xfrm>
        </p:spPr>
        <p:txBody>
          <a:bodyPr>
            <a:noAutofit/>
          </a:bodyPr>
          <a:lstStyle/>
          <a:p>
            <a:r>
              <a:rPr lang="en-US" sz="3200" b="1" dirty="0"/>
              <a:t>Line Chart – Performance Trend Over Time</a:t>
            </a:r>
            <a:br>
              <a:rPr lang="en-US" sz="2400" b="1" dirty="0"/>
            </a:br>
            <a:br>
              <a:rPr lang="en-US" sz="2400" b="1" dirty="0"/>
            </a:br>
            <a:r>
              <a:rPr lang="en-US" sz="2400" dirty="0"/>
              <a:t>The line graph highlights how evaluation scores change across time periods.</a:t>
            </a:r>
            <a:br>
              <a:rPr lang="en-US" sz="2400" dirty="0"/>
            </a:br>
            <a:r>
              <a:rPr lang="en-US" sz="2400" dirty="0"/>
              <a:t>Upward trends indicate successful improvements in service quality.</a:t>
            </a:r>
            <a:br>
              <a:rPr lang="en-US" sz="2400" dirty="0"/>
            </a:br>
            <a:r>
              <a:rPr lang="en-US" sz="2400" dirty="0"/>
              <a:t>Declines may signal operational challenges or workforce issues.</a:t>
            </a:r>
            <a:br>
              <a:rPr lang="en-US" sz="2400" dirty="0"/>
            </a:br>
            <a:r>
              <a:rPr lang="en-US" sz="2400" dirty="0"/>
              <a:t>Continuous tracking supports proactive performance management.</a:t>
            </a:r>
            <a:br>
              <a:rPr lang="en-US" sz="2400" dirty="0"/>
            </a:br>
            <a:endParaRPr lang="en-IN" sz="2400" dirty="0"/>
          </a:p>
        </p:txBody>
      </p:sp>
      <p:pic>
        <p:nvPicPr>
          <p:cNvPr id="4" name="Picture 3">
            <a:extLst>
              <a:ext uri="{FF2B5EF4-FFF2-40B4-BE49-F238E27FC236}">
                <a16:creationId xmlns:a16="http://schemas.microsoft.com/office/drawing/2014/main" id="{12916F90-1DDC-C812-3AF0-B2588D34B41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27602" y="2973480"/>
            <a:ext cx="5468113" cy="3219899"/>
          </a:xfrm>
          <a:prstGeom prst="rect">
            <a:avLst/>
          </a:prstGeom>
        </p:spPr>
      </p:pic>
    </p:spTree>
    <p:extLst>
      <p:ext uri="{BB962C8B-B14F-4D97-AF65-F5344CB8AC3E}">
        <p14:creationId xmlns:p14="http://schemas.microsoft.com/office/powerpoint/2010/main" val="41687291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56629A-2228-B7E8-4E0E-2DCC70A6CA0E}"/>
              </a:ext>
            </a:extLst>
          </p:cNvPr>
          <p:cNvSpPr>
            <a:spLocks noGrp="1"/>
          </p:cNvSpPr>
          <p:nvPr>
            <p:ph type="title"/>
          </p:nvPr>
        </p:nvSpPr>
        <p:spPr>
          <a:xfrm>
            <a:off x="709612" y="491490"/>
            <a:ext cx="10772775" cy="2272031"/>
          </a:xfrm>
        </p:spPr>
        <p:txBody>
          <a:bodyPr>
            <a:noAutofit/>
          </a:bodyPr>
          <a:lstStyle/>
          <a:p>
            <a:r>
              <a:rPr lang="en-US" sz="3200" b="1" dirty="0"/>
              <a:t>Stacked Bar – High vs Low Performers Comparison</a:t>
            </a:r>
            <a:br>
              <a:rPr lang="en-US" sz="3200" b="1" dirty="0"/>
            </a:br>
            <a:br>
              <a:rPr lang="en-US" sz="3200" b="1" dirty="0"/>
            </a:br>
            <a:r>
              <a:rPr lang="en-US" sz="2400" dirty="0"/>
              <a:t>This chart clearly presents the balance between strong and weak performers.</a:t>
            </a:r>
            <a:br>
              <a:rPr lang="en-US" sz="2400" dirty="0"/>
            </a:br>
            <a:r>
              <a:rPr lang="en-US" sz="2400" dirty="0"/>
              <a:t>Zones with higher low-performer counts may face service quality risks.</a:t>
            </a:r>
            <a:br>
              <a:rPr lang="en-US" sz="2400" dirty="0"/>
            </a:br>
            <a:r>
              <a:rPr lang="en-US" sz="2400" dirty="0"/>
              <a:t>A better distribution toward high performers indicates workforce effectiveness.</a:t>
            </a:r>
            <a:br>
              <a:rPr lang="en-US" sz="2400" dirty="0"/>
            </a:br>
            <a:r>
              <a:rPr lang="en-US" sz="2400" dirty="0"/>
              <a:t>The visualization helps prioritize coaching and mentoring efforts.</a:t>
            </a:r>
            <a:br>
              <a:rPr lang="en-US" sz="2400" dirty="0"/>
            </a:br>
            <a:endParaRPr lang="en-IN" sz="2400" dirty="0"/>
          </a:p>
        </p:txBody>
      </p:sp>
      <p:pic>
        <p:nvPicPr>
          <p:cNvPr id="4" name="Picture 3">
            <a:extLst>
              <a:ext uri="{FF2B5EF4-FFF2-40B4-BE49-F238E27FC236}">
                <a16:creationId xmlns:a16="http://schemas.microsoft.com/office/drawing/2014/main" id="{27657760-60D4-B445-AB6B-4FBEE382EC6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14700" y="2860160"/>
            <a:ext cx="5143500" cy="3060580"/>
          </a:xfrm>
          <a:prstGeom prst="rect">
            <a:avLst/>
          </a:prstGeom>
        </p:spPr>
      </p:pic>
    </p:spTree>
    <p:extLst>
      <p:ext uri="{BB962C8B-B14F-4D97-AF65-F5344CB8AC3E}">
        <p14:creationId xmlns:p14="http://schemas.microsoft.com/office/powerpoint/2010/main" val="11324290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8B9B1C-E91E-A018-831A-3D7B50E67CAE}"/>
              </a:ext>
            </a:extLst>
          </p:cNvPr>
          <p:cNvSpPr>
            <a:spLocks noGrp="1"/>
          </p:cNvSpPr>
          <p:nvPr>
            <p:ph type="title"/>
          </p:nvPr>
        </p:nvSpPr>
        <p:spPr>
          <a:xfrm>
            <a:off x="709612" y="982980"/>
            <a:ext cx="10772775" cy="4286250"/>
          </a:xfrm>
        </p:spPr>
        <p:txBody>
          <a:bodyPr>
            <a:noAutofit/>
          </a:bodyPr>
          <a:lstStyle/>
          <a:p>
            <a:r>
              <a:rPr lang="en-US" sz="3200" b="1" dirty="0"/>
              <a:t>Key Insights</a:t>
            </a:r>
            <a:br>
              <a:rPr lang="en-US" sz="3200" b="1" dirty="0"/>
            </a:br>
            <a:br>
              <a:rPr lang="en-US" sz="2400" b="1" dirty="0"/>
            </a:br>
            <a:br>
              <a:rPr lang="en-US" sz="2400" dirty="0"/>
            </a:br>
            <a:r>
              <a:rPr lang="en-US" sz="2400" dirty="0"/>
              <a:t>. Majority of advisors fall in Average category.</a:t>
            </a:r>
            <a:br>
              <a:rPr lang="en-US" sz="2400" dirty="0"/>
            </a:br>
            <a:r>
              <a:rPr lang="en-US" sz="2400" dirty="0"/>
              <a:t>. Certain zones consistently outperform others.</a:t>
            </a:r>
            <a:br>
              <a:rPr lang="en-US" sz="2400" dirty="0"/>
            </a:br>
            <a:r>
              <a:rPr lang="en-US" sz="2400" dirty="0"/>
              <a:t>. Some criteria show weaker ratings across regions.</a:t>
            </a:r>
            <a:br>
              <a:rPr lang="en-US" sz="2400" dirty="0"/>
            </a:br>
            <a:r>
              <a:rPr lang="en-US" sz="2400" dirty="0"/>
              <a:t>. Trend analysis shows periods of improvement / decline.</a:t>
            </a:r>
            <a:br>
              <a:rPr lang="en-US" sz="2400" dirty="0"/>
            </a:br>
            <a:r>
              <a:rPr lang="en-US" sz="2400" dirty="0"/>
              <a:t>. Gap between high and low performers exists in select zones.</a:t>
            </a:r>
            <a:br>
              <a:rPr lang="en-US" sz="2400" dirty="0"/>
            </a:br>
            <a:endParaRPr lang="en-IN" sz="2400" dirty="0"/>
          </a:p>
        </p:txBody>
      </p:sp>
    </p:spTree>
    <p:extLst>
      <p:ext uri="{BB962C8B-B14F-4D97-AF65-F5344CB8AC3E}">
        <p14:creationId xmlns:p14="http://schemas.microsoft.com/office/powerpoint/2010/main" val="41679160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6A9CCF-7310-8C89-DCEE-4EE37E125C96}"/>
              </a:ext>
            </a:extLst>
          </p:cNvPr>
          <p:cNvSpPr>
            <a:spLocks noGrp="1"/>
          </p:cNvSpPr>
          <p:nvPr>
            <p:ph type="title"/>
          </p:nvPr>
        </p:nvSpPr>
        <p:spPr>
          <a:xfrm>
            <a:off x="709612" y="1508760"/>
            <a:ext cx="10772775" cy="3394710"/>
          </a:xfrm>
        </p:spPr>
        <p:txBody>
          <a:bodyPr>
            <a:noAutofit/>
          </a:bodyPr>
          <a:lstStyle/>
          <a:p>
            <a:r>
              <a:rPr lang="en-US" sz="3200" b="1" dirty="0"/>
              <a:t>Recommendations</a:t>
            </a:r>
            <a:br>
              <a:rPr lang="en-US" sz="3200" b="1" dirty="0"/>
            </a:br>
            <a:br>
              <a:rPr lang="en-US" sz="2400" b="1" dirty="0"/>
            </a:br>
            <a:r>
              <a:rPr lang="en-US" sz="2400" dirty="0"/>
              <a:t>Based on analysis:</a:t>
            </a:r>
            <a:br>
              <a:rPr lang="en-US" sz="2400" dirty="0"/>
            </a:br>
            <a:br>
              <a:rPr lang="en-US" sz="2400" dirty="0"/>
            </a:br>
            <a:r>
              <a:rPr lang="en-US" sz="2400" dirty="0"/>
              <a:t>. Provide focused training where low scores dominate.</a:t>
            </a:r>
            <a:br>
              <a:rPr lang="en-US" sz="2400" dirty="0"/>
            </a:br>
            <a:r>
              <a:rPr lang="en-US" sz="2400" dirty="0"/>
              <a:t>. Replicate best practices from top zones.</a:t>
            </a:r>
            <a:br>
              <a:rPr lang="en-US" sz="2400" dirty="0"/>
            </a:br>
            <a:r>
              <a:rPr lang="en-US" sz="2400" dirty="0"/>
              <a:t>. Introduce mentoring for low performers.</a:t>
            </a:r>
            <a:br>
              <a:rPr lang="en-US" sz="2400" dirty="0"/>
            </a:br>
            <a:r>
              <a:rPr lang="en-US" sz="2400" dirty="0"/>
              <a:t>. Monitor weak criteria with stricter supervision.</a:t>
            </a:r>
            <a:br>
              <a:rPr lang="en-US" sz="2400" dirty="0"/>
            </a:br>
            <a:r>
              <a:rPr lang="en-US" sz="2400" dirty="0"/>
              <a:t>. Use periodic evaluation to maintain consistency.</a:t>
            </a:r>
            <a:br>
              <a:rPr lang="en-US" sz="2400" dirty="0"/>
            </a:br>
            <a:endParaRPr lang="en-IN" sz="2400" dirty="0"/>
          </a:p>
        </p:txBody>
      </p:sp>
    </p:spTree>
    <p:extLst>
      <p:ext uri="{BB962C8B-B14F-4D97-AF65-F5344CB8AC3E}">
        <p14:creationId xmlns:p14="http://schemas.microsoft.com/office/powerpoint/2010/main" val="11819292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EB96A4-88E7-753C-EF4D-7CC0A826DB06}"/>
              </a:ext>
            </a:extLst>
          </p:cNvPr>
          <p:cNvSpPr>
            <a:spLocks noGrp="1"/>
          </p:cNvSpPr>
          <p:nvPr>
            <p:ph type="title"/>
          </p:nvPr>
        </p:nvSpPr>
        <p:spPr>
          <a:xfrm>
            <a:off x="709612" y="914400"/>
            <a:ext cx="10772775" cy="4320540"/>
          </a:xfrm>
        </p:spPr>
        <p:txBody>
          <a:bodyPr>
            <a:noAutofit/>
          </a:bodyPr>
          <a:lstStyle/>
          <a:p>
            <a:r>
              <a:rPr lang="en-US" sz="3200" b="1" dirty="0"/>
              <a:t>Conclusion</a:t>
            </a:r>
            <a:br>
              <a:rPr lang="en-US" sz="2400" b="1" dirty="0"/>
            </a:br>
            <a:br>
              <a:rPr lang="en-US" sz="2400" b="1" dirty="0"/>
            </a:br>
            <a:r>
              <a:rPr lang="en-US" sz="2400" dirty="0"/>
              <a:t>The study successfully transformed raw evaluation data into measurable insights.</a:t>
            </a:r>
            <a:br>
              <a:rPr lang="en-US" sz="2400" dirty="0"/>
            </a:br>
            <a:r>
              <a:rPr lang="en-US" sz="2400" dirty="0"/>
              <a:t>The findings help management:</a:t>
            </a:r>
            <a:br>
              <a:rPr lang="en-US" sz="2400" dirty="0"/>
            </a:br>
            <a:r>
              <a:rPr lang="en-US" sz="2400" dirty="0"/>
              <a:t>✔ identify strengths</a:t>
            </a:r>
            <a:br>
              <a:rPr lang="en-US" sz="2400" dirty="0"/>
            </a:br>
            <a:r>
              <a:rPr lang="en-US" sz="2400" dirty="0"/>
              <a:t>✔ detect weaknesses</a:t>
            </a:r>
            <a:br>
              <a:rPr lang="en-US" sz="2400" dirty="0"/>
            </a:br>
            <a:r>
              <a:rPr lang="en-US" sz="2400" dirty="0"/>
              <a:t>✔ plan training</a:t>
            </a:r>
            <a:br>
              <a:rPr lang="en-US" sz="2400" dirty="0"/>
            </a:br>
            <a:r>
              <a:rPr lang="en-US" sz="2400" dirty="0"/>
              <a:t>✔ improve customer experience</a:t>
            </a:r>
            <a:br>
              <a:rPr lang="en-US" sz="2400" dirty="0"/>
            </a:br>
            <a:br>
              <a:rPr lang="en-US" sz="2400" dirty="0"/>
            </a:br>
            <a:r>
              <a:rPr lang="en-US" sz="2400" dirty="0"/>
              <a:t>Data-driven monitoring can significantly enhance service standards.</a:t>
            </a:r>
            <a:br>
              <a:rPr lang="en-US" sz="2400" dirty="0"/>
            </a:br>
            <a:endParaRPr lang="en-IN" sz="2400" dirty="0"/>
          </a:p>
        </p:txBody>
      </p:sp>
    </p:spTree>
    <p:extLst>
      <p:ext uri="{BB962C8B-B14F-4D97-AF65-F5344CB8AC3E}">
        <p14:creationId xmlns:p14="http://schemas.microsoft.com/office/powerpoint/2010/main" val="2711591810"/>
      </p:ext>
    </p:extLst>
  </p:cSld>
  <p:clrMapOvr>
    <a:masterClrMapping/>
  </p:clrMapOvr>
</p:sld>
</file>

<file path=ppt/theme/theme1.xml><?xml version="1.0" encoding="utf-8"?>
<a:theme xmlns:a="http://schemas.openxmlformats.org/drawingml/2006/main" name="Metropolitan">
  <a:themeElements>
    <a:clrScheme name="Metropolitan">
      <a:dk1>
        <a:sysClr val="windowText" lastClr="000000"/>
      </a:dk1>
      <a:lt1>
        <a:sysClr val="window" lastClr="FFFFFF"/>
      </a:lt1>
      <a:dk2>
        <a:srgbClr val="424456"/>
      </a:dk2>
      <a:lt2>
        <a:srgbClr val="DEDEDE"/>
      </a:lt2>
      <a:accent1>
        <a:srgbClr val="53548A"/>
      </a:accent1>
      <a:accent2>
        <a:srgbClr val="438086"/>
      </a:accent2>
      <a:accent3>
        <a:srgbClr val="A04DA3"/>
      </a:accent3>
      <a:accent4>
        <a:srgbClr val="C4652D"/>
      </a:accent4>
      <a:accent5>
        <a:srgbClr val="8B5D3D"/>
      </a:accent5>
      <a:accent6>
        <a:srgbClr val="5C92B5"/>
      </a:accent6>
      <a:hlink>
        <a:srgbClr val="67AFBD"/>
      </a:hlink>
      <a:folHlink>
        <a:srgbClr val="C2A874"/>
      </a:folHlink>
    </a:clrScheme>
    <a:fontScheme name="Metropolitan">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Metropolitan">
      <a:fillStyleLst>
        <a:solidFill>
          <a:schemeClr val="phClr"/>
        </a:solidFill>
        <a:gradFill rotWithShape="1">
          <a:gsLst>
            <a:gs pos="0">
              <a:schemeClr val="phClr">
                <a:tint val="70000"/>
                <a:satMod val="100000"/>
                <a:lumMod val="110000"/>
              </a:schemeClr>
            </a:gs>
            <a:gs pos="50000">
              <a:schemeClr val="phClr">
                <a:tint val="75000"/>
                <a:satMod val="101000"/>
                <a:lumMod val="105000"/>
              </a:schemeClr>
            </a:gs>
            <a:gs pos="100000">
              <a:schemeClr val="phClr">
                <a:tint val="82000"/>
                <a:satMod val="104000"/>
                <a:lumMod val="105000"/>
              </a:schemeClr>
            </a:gs>
          </a:gsLst>
          <a:lin ang="2700000" scaled="0"/>
        </a:gradFill>
        <a:gradFill rotWithShape="1">
          <a:gsLst>
            <a:gs pos="0">
              <a:schemeClr val="phClr">
                <a:tint val="97000"/>
                <a:satMod val="100000"/>
                <a:lumMod val="102000"/>
              </a:schemeClr>
            </a:gs>
            <a:gs pos="50000">
              <a:schemeClr val="phClr">
                <a:shade val="100000"/>
                <a:satMod val="100000"/>
                <a:lumMod val="100000"/>
              </a:schemeClr>
            </a:gs>
            <a:gs pos="100000">
              <a:schemeClr val="phClr">
                <a:shade val="80000"/>
                <a:satMod val="100000"/>
                <a:lumMod val="99000"/>
              </a:schemeClr>
            </a:gs>
          </a:gsLst>
          <a:lin ang="27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solidFill>
          <a:schemeClr val="phClr">
            <a:shade val="95000"/>
            <a:satMod val="170000"/>
          </a:schemeClr>
        </a:solidFill>
      </a:bgFillStyleLst>
    </a:fmtScheme>
  </a:themeElements>
  <a:objectDefaults/>
  <a:extraClrSchemeLst/>
  <a:extLst>
    <a:ext uri="{05A4C25C-085E-4340-85A3-A5531E510DB2}">
      <thm15:themeFamily xmlns:thm15="http://schemas.microsoft.com/office/thememl/2012/main" name="Metropolitan" id="{4C5440D6-04D2-4954-96CF-F251137069B2}" vid="{44E3BB9A-3BF5-4BE4-90CF-48BFABC78514}"/>
    </a:ext>
  </a:extLst>
</a:theme>
</file>

<file path=docProps/app.xml><?xml version="1.0" encoding="utf-8"?>
<Properties xmlns="http://schemas.openxmlformats.org/officeDocument/2006/extended-properties" xmlns:vt="http://schemas.openxmlformats.org/officeDocument/2006/docPropsVTypes">
  <Template>Metropolitan</Template>
  <TotalTime>39</TotalTime>
  <Words>620</Words>
  <Application>Microsoft Office PowerPoint</Application>
  <PresentationFormat>Widescreen</PresentationFormat>
  <Paragraphs>26</Paragraphs>
  <Slides>11</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 Light</vt:lpstr>
      <vt:lpstr>Metropolitan</vt:lpstr>
      <vt:lpstr> Evaluation of Style Advisor Performance Comprehensive Analysis and Insights </vt:lpstr>
      <vt:lpstr>Introduction This project analyzes the performance of Style Advisors using evaluation data collected across different zones and time periods. The study uses Excel tools such as grading formulas, pivot tables, and visualizations to derive actionable insights.   Objectives . Classify advisors based on performance levels . Compare zones using average scores . Identify high-performing regions . Track performance trends over time . Highlight improvement opportunities </vt:lpstr>
      <vt:lpstr> Data Overview  The dataset includes multiple attributes used to evaluate service quality.  Key Columns: 1. Date of evaluation 2. Zone / Region 3. Store / Location 4. Style Advisor 5. Individual criteria scores 6. Final Evaluation Score 7. Performance Grade (derived)  The dataset allows both individual and regional performance analysis. </vt:lpstr>
      <vt:lpstr>Performance Grading  Grading Scale Method Grades were assigned using a nested IF formula in Excel based on Evaluation Score. Purpose This helps segment employees and support decision-making for rewards and training.</vt:lpstr>
      <vt:lpstr>Visualizations: Bar Chart – Average Evaluation Scores by Zone  The chart compares overall performance levels across different zones. Zones with higher averages demonstrate better service consistency and operational effectiveness. Lower-scoring regions may require additional supervision, training, or resource support. The variation indicates opportunities for cross-learning from top-performing zones.         </vt:lpstr>
      <vt:lpstr>Pie Chart – Percentage of High Performers by Zone  The distribution shows how top talent is spread geographically. Zones contributing a larger share of high performers can act as internal benchmarks. Regions with smaller contributions highlight potential improvement areas. The analysis helps management focus recognition and replication of best practices.   </vt:lpstr>
      <vt:lpstr>Line Chart – Performance Trend Over Time  The line graph highlights how evaluation scores change across time periods. Upward trends indicate successful improvements in service quality. Declines may signal operational challenges or workforce issues. Continuous tracking supports proactive performance management. </vt:lpstr>
      <vt:lpstr>Stacked Bar – High vs Low Performers Comparison  This chart clearly presents the balance between strong and weak performers. Zones with higher low-performer counts may face service quality risks. A better distribution toward high performers indicates workforce effectiveness. The visualization helps prioritize coaching and mentoring efforts. </vt:lpstr>
      <vt:lpstr>Key Insights   . Majority of advisors fall in Average category. . Certain zones consistently outperform others. . Some criteria show weaker ratings across regions. . Trend analysis shows periods of improvement / decline. . Gap between high and low performers exists in select zones. </vt:lpstr>
      <vt:lpstr>Recommendations  Based on analysis:  . Provide focused training where low scores dominate. . Replicate best practices from top zones. . Introduce mentoring for low performers. . Monitor weak criteria with stricter supervision. . Use periodic evaluation to maintain consistency. </vt:lpstr>
      <vt:lpstr>Conclusion  The study successfully transformed raw evaluation data into measurable insights. The findings help management: ✔ identify strengths ✔ detect weaknesses ✔ plan training ✔ improve customer experience  Data-driven monitoring can significantly enhance service standards.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Asmita Shukla</dc:creator>
  <cp:lastModifiedBy>Asmita Shukla</cp:lastModifiedBy>
  <cp:revision>1</cp:revision>
  <dcterms:created xsi:type="dcterms:W3CDTF">2026-02-13T03:57:13Z</dcterms:created>
  <dcterms:modified xsi:type="dcterms:W3CDTF">2026-02-13T04:36:16Z</dcterms:modified>
</cp:coreProperties>
</file>